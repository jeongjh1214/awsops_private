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b52a8825a4066" /><Relationship Type="http://schemas.openxmlformats.org/officeDocument/2006/relationships/extended-properties" Target="/docProps/app.xml" Id="R308b202464624104" /><Relationship Type="http://schemas.openxmlformats.org/officeDocument/2006/relationships/officeDocument" Target="/ppt/presentation.xml" Id="R3d1778ed7c0a48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580711b6e74508"/>
  </p:sldMasterIdLst>
  <p:notesMasterIdLst>
    <p:notesMasterId xmlns:r="http://schemas.openxmlformats.org/officeDocument/2006/relationships" r:id="R38365a73866b4b52"/>
  </p:notesMasterIdLst>
  <p:sldIdLst>
    <p:sldId xmlns:r="http://schemas.openxmlformats.org/officeDocument/2006/relationships" id="256" r:id="R210697c564a948e1"/>
    <p:sldId xmlns:r="http://schemas.openxmlformats.org/officeDocument/2006/relationships" id="257" r:id="R803cb9aef16b4a87"/>
    <p:sldId xmlns:r="http://schemas.openxmlformats.org/officeDocument/2006/relationships" id="258" r:id="Racb649eddf5f4e24"/>
    <p:sldId xmlns:r="http://schemas.openxmlformats.org/officeDocument/2006/relationships" id="259" r:id="Rdc0cbc6acd8543e7"/>
    <p:sldId xmlns:r="http://schemas.openxmlformats.org/officeDocument/2006/relationships" id="260" r:id="Rbb02523d560a4e9f"/>
    <p:sldId xmlns:r="http://schemas.openxmlformats.org/officeDocument/2006/relationships" id="261" r:id="R1343f390909641d5"/>
    <p:sldId xmlns:r="http://schemas.openxmlformats.org/officeDocument/2006/relationships" id="262" r:id="R9061d770205a47e3"/>
    <p:sldId xmlns:r="http://schemas.openxmlformats.org/officeDocument/2006/relationships" id="263" r:id="R0a4a9c3bab274da4"/>
    <p:sldId xmlns:r="http://schemas.openxmlformats.org/officeDocument/2006/relationships" id="264" r:id="R271a0b692b514361"/>
    <p:sldId xmlns:r="http://schemas.openxmlformats.org/officeDocument/2006/relationships" id="265" r:id="Ra52de162db7e454d"/>
    <p:sldId xmlns:r="http://schemas.openxmlformats.org/officeDocument/2006/relationships" id="266" r:id="Rb8e2ef0f46314f06"/>
    <p:sldId xmlns:r="http://schemas.openxmlformats.org/officeDocument/2006/relationships" id="267" r:id="R49523f3107ad4b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cb2fd9ab54130" /><Relationship Type="http://schemas.openxmlformats.org/officeDocument/2006/relationships/slideMaster" Target="/ppt/slideMasters/slideMaster1.xml" Id="Rc6580711b6e74508" /><Relationship Type="http://schemas.openxmlformats.org/officeDocument/2006/relationships/notesMaster" Target="/ppt/notesMasters/notesMaster1.xml" Id="R38365a73866b4b52" /><Relationship Type="http://schemas.openxmlformats.org/officeDocument/2006/relationships/presProps" Target="/ppt/presProps.xml" Id="R4d8389bfd755441d" /><Relationship Type="http://schemas.openxmlformats.org/officeDocument/2006/relationships/tableStyles" Target="/ppt/tableStyles.xml" Id="R79168825cfdd4d99" /><Relationship Type="http://schemas.openxmlformats.org/officeDocument/2006/relationships/slide" Target="/ppt/slides/slide1.xml" Id="R210697c564a948e1" /><Relationship Type="http://schemas.openxmlformats.org/officeDocument/2006/relationships/slide" Target="/ppt/slides/slide2.xml" Id="R803cb9aef16b4a87" /><Relationship Type="http://schemas.openxmlformats.org/officeDocument/2006/relationships/slide" Target="/ppt/slides/slide3.xml" Id="Racb649eddf5f4e24" /><Relationship Type="http://schemas.openxmlformats.org/officeDocument/2006/relationships/slide" Target="/ppt/slides/slide4.xml" Id="Rdc0cbc6acd8543e7" /><Relationship Type="http://schemas.openxmlformats.org/officeDocument/2006/relationships/slide" Target="/ppt/slides/slide5.xml" Id="Rbb02523d560a4e9f" /><Relationship Type="http://schemas.openxmlformats.org/officeDocument/2006/relationships/slide" Target="/ppt/slides/slide6.xml" Id="R1343f390909641d5" /><Relationship Type="http://schemas.openxmlformats.org/officeDocument/2006/relationships/slide" Target="/ppt/slides/slide7.xml" Id="R9061d770205a47e3" /><Relationship Type="http://schemas.openxmlformats.org/officeDocument/2006/relationships/slide" Target="/ppt/slides/slide8.xml" Id="R0a4a9c3bab274da4" /><Relationship Type="http://schemas.openxmlformats.org/officeDocument/2006/relationships/slide" Target="/ppt/slides/slide9.xml" Id="R271a0b692b514361" /><Relationship Type="http://schemas.openxmlformats.org/officeDocument/2006/relationships/slide" Target="/ppt/slides/slide10.xml" Id="Ra52de162db7e454d" /><Relationship Type="http://schemas.openxmlformats.org/officeDocument/2006/relationships/slide" Target="/ppt/slides/slide11.xml" Id="Rb8e2ef0f46314f06" /><Relationship Type="http://schemas.openxmlformats.org/officeDocument/2006/relationships/slide" Target="/ppt/slides/slide12.xml" Id="R49523f3107ad4b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cec1101ea048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70703bce64740" /><Relationship Type="http://schemas.openxmlformats.org/officeDocument/2006/relationships/notesMaster" Target="/ppt/notesMasters/notesMaster1.xml" Id="Rf4e27462947f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067cf550845ee" /><Relationship Type="http://schemas.openxmlformats.org/officeDocument/2006/relationships/notesMaster" Target="/ppt/notesMasters/notesMaster1.xml" Id="R724d512ea1ee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a247e1bdff43e4" /><Relationship Type="http://schemas.openxmlformats.org/officeDocument/2006/relationships/notesMaster" Target="/ppt/notesMasters/notesMaster1.xml" Id="Rc053bca8b325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9f91728f041e1" /><Relationship Type="http://schemas.openxmlformats.org/officeDocument/2006/relationships/notesMaster" Target="/ppt/notesMasters/notesMaster1.xml" Id="Rd460c52fa9f04c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db101dfcf44160" /><Relationship Type="http://schemas.openxmlformats.org/officeDocument/2006/relationships/notesMaster" Target="/ppt/notesMasters/notesMaster1.xml" Id="Rf3c0cd9d5c354f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45513969da495d" /><Relationship Type="http://schemas.openxmlformats.org/officeDocument/2006/relationships/notesMaster" Target="/ppt/notesMasters/notesMaster1.xml" Id="R066115433c29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1bbf6f46174934" /><Relationship Type="http://schemas.openxmlformats.org/officeDocument/2006/relationships/notesMaster" Target="/ppt/notesMasters/notesMaster1.xml" Id="R88202442b0934b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030c2ee9bf40c4" /><Relationship Type="http://schemas.openxmlformats.org/officeDocument/2006/relationships/notesMaster" Target="/ppt/notesMasters/notesMaster1.xml" Id="R457108334e304b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a102d20614423b" /><Relationship Type="http://schemas.openxmlformats.org/officeDocument/2006/relationships/notesMaster" Target="/ppt/notesMasters/notesMaster1.xml" Id="Rb7c8c231187849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6d3923820c4adb" /><Relationship Type="http://schemas.openxmlformats.org/officeDocument/2006/relationships/notesMaster" Target="/ppt/notesMasters/notesMaster1.xml" Id="R4381b970111842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fd1e69a80e40e9" /><Relationship Type="http://schemas.openxmlformats.org/officeDocument/2006/relationships/notesMaster" Target="/ppt/notesMasters/notesMaster1.xml" Id="R217b71d3bf0340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d54d1f2db14fce" /><Relationship Type="http://schemas.openxmlformats.org/officeDocument/2006/relationships/notesMaster" Target="/ppt/notesMasters/notesMaster1.xml" Id="Rf6ca6410d771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2cea2b73743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5ffdb74a04628" /><Relationship Type="http://schemas.openxmlformats.org/officeDocument/2006/relationships/slideLayout" Target="/ppt/slideLayouts/slideLayout1.xml" Id="R5a5121e2f45f47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121e2f45f47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75ec2d7064aea" /><Relationship Type="http://schemas.openxmlformats.org/officeDocument/2006/relationships/notesSlide" Target="/ppt/notesSlides/notesSlide1.xml" Id="R5f25a41c58224b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e7eb3217944ee" /><Relationship Type="http://schemas.openxmlformats.org/officeDocument/2006/relationships/notesSlide" Target="/ppt/notesSlides/notesSlide2.xml" Id="Rb5024aaef8c94b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804875ec04200" /><Relationship Type="http://schemas.openxmlformats.org/officeDocument/2006/relationships/notesSlide" Target="/ppt/notesSlides/notesSlide3.xml" Id="R76e09538df79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4fca501ad451b" /><Relationship Type="http://schemas.openxmlformats.org/officeDocument/2006/relationships/notesSlide" Target="/ppt/notesSlides/notesSlide4.xml" Id="Re85120d4ffcd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c8b9d34814738" /><Relationship Type="http://schemas.openxmlformats.org/officeDocument/2006/relationships/notesSlide" Target="/ppt/notesSlides/notesSlide5.xml" Id="R2b5b2dffb3fb4c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1e4a685254b7c" /><Relationship Type="http://schemas.openxmlformats.org/officeDocument/2006/relationships/notesSlide" Target="/ppt/notesSlides/notesSlide6.xml" Id="R752d8cbf0b20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60e7a43e4f90" /><Relationship Type="http://schemas.openxmlformats.org/officeDocument/2006/relationships/notesSlide" Target="/ppt/notesSlides/notesSlide7.xml" Id="Rb4d52d19d04d47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d98b04dc245ac" /><Relationship Type="http://schemas.openxmlformats.org/officeDocument/2006/relationships/notesSlide" Target="/ppt/notesSlides/notesSlide8.xml" Id="Ra8db1809ca4d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131e664f841b8" /><Relationship Type="http://schemas.openxmlformats.org/officeDocument/2006/relationships/notesSlide" Target="/ppt/notesSlides/notesSlide9.xml" Id="R394c50b9e7bc4d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a5890ac2343e4" /><Relationship Type="http://schemas.openxmlformats.org/officeDocument/2006/relationships/notesSlide" Target="/ppt/notesSlides/notesSlide10.xml" Id="R65d17c381ccd45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327d712d144c3" /><Relationship Type="http://schemas.openxmlformats.org/officeDocument/2006/relationships/notesSlide" Target="/ppt/notesSlides/notesSlide11.xml" Id="R1f3a24a2977741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ec805b79d405d" /><Relationship Type="http://schemas.openxmlformats.org/officeDocument/2006/relationships/notesSlide" Target="/ppt/notesSlides/notesSlide12.xml" Id="R0def79279bf24d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441F2F-36DF-4537-AA09-E0CA331E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7F4FC-4CA1-4CE8-BB63-8C0B4DAA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5FD9A-75E8-4872-BDA7-963E017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AWSops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E6E8F-718E-4DE9-8E85-DDB692F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Private VM</a:t>
            </a:r>
          </a:p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Security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EC9C6-6E69-42F6-892D-357485D1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F3338"/>
                </a:solidFill>
              </a:defRPr>
            </a:pPr>
            <a:r>
              <a:rPr sz="1875" b="0">
                <a:solidFill>
                  <a:srgbClr val="2F3338"/>
                </a:solidFill>
              </a:rPr>
              <a:t>내부망 기반 AWS 운영·자산관리·감사 대시보드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ED30D-E524-4131-BEA6-7595256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05D"/>
                </a:solidFill>
              </a:defRPr>
            </a:pPr>
            <a:r>
              <a:rPr sz="1350" b="1">
                <a:solidFill>
                  <a:srgbClr val="16805D"/>
                </a:solidFill>
              </a:rPr>
              <a:t>기존 VM · 기존 AWS profile · 기존 VPC Endpoint만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E6B83-E465-4E43-BAE5-869465CD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09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SECURITY REVIEW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2026.07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F48A0-2D78-4BDA-8D8F-B3454094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 PUBLIC EDGE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 RESOURCE PROVISIONING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READ-ONLY 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E1D20-0380-4A05-BC31-EE7DECDE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AF4C9-71A6-4F10-ABA1-6D064EC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7D7"/>
                </a:solidFill>
              </a:defRPr>
            </a:pPr>
            <a:r>
              <a:rPr sz="1350" b="0">
                <a:solidFill>
                  <a:srgbClr val="D7D7D7"/>
                </a:solidFill>
              </a:rPr>
              <a:t>CloudFront · Cognito · AgentCore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BE9C3-4367-458D-BB56-A085403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53596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5CF88BE-226D-4413-B7EE-100859EF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AWSops는 기존 내부망과 IAM 경계 안에서만 동작한다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9E31D-CA58-4F6D-AB7B-D9A6889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69F9C-EB0F-4D52-985D-A294E4B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6380C-11F6-4DAC-AEB4-A62DDE9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docs/wiki/00-overview.md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21BA8-2EB0-4731-90D3-1266E4C0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628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B2DF1-BF62-4A2A-B1EB-9A71CF43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A8C54-288E-4A61-87B2-793E5A8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AWS 변경 없음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B8634-85F3-4C7C-A9D1-E87713EA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133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Create·Update·Delete API와 IaC 배포 경로를 두지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AB8EE-C8A2-4FA4-89FD-B14E3D98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628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F8B6A-BC18-46CC-9594-3966DCBB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24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05D"/>
                </a:solidFill>
              </a:defRPr>
            </a:pPr>
            <a:r>
              <a:rPr sz="1350" b="1">
                <a:solidFill>
                  <a:srgbClr val="16805D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653C9-B4C0-4ABA-8976-22235F9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Public edge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84857-FCAC-454B-80D7-FA558300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2133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CloudFront, Cognito, Lambda@Edge를 사용하지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FF15C-1A38-4BED-A52F-CBB03C84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2628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3EFCB-4009-402E-8D7E-2B95A49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C117A-F22A-4016-99F9-F219484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승인 경로만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6A4B9-EFEA-4B85-8FA8-54068CF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133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기존 AWS profile과 VPC Endpoint 또는 private DNS를 사용한다.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55F4F-8071-4027-B909-EC043F6D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2628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62AC4-AA17-4935-A224-948B775F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B8A5B-0D66-4C6A-B01F-D2462EB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증적은 내부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98C5F-E9AC-4187-B647-16E48CE0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133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자산·S3 관리대장·Identity 감사 이력을 SQLite에 보존한다.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8C20A-514B-488A-9D7C-EA1E0084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핵심 검토 포인트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9102F-991F-42BA-9F75-C78E7A7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3338"/>
                </a:solidFill>
              </a:defRPr>
            </a:pPr>
            <a:r>
              <a:rPr sz="1350" b="1">
                <a:solidFill>
                  <a:srgbClr val="2F3338"/>
                </a:solidFill>
              </a:rPr>
              <a:t>Application authentication이 없는 1차 구조이므로 network access control이 보완 통제로 반드시 확정되어야 한다.</a:t>
            </a:r>
          </a:p>
        </p:txBody>
      </p:sp>
    </p:spTree>
    <p:extLst>
      <p:ext uri="{BB962C8B-B14F-4D97-AF65-F5344CB8AC3E}">
        <p14:creationId xmlns:p14="http://schemas.microsoft.com/office/powerpoint/2010/main" val="1096868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81754BB-D04F-49D3-BCBE-DBA6625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사용자 ingress 하나와 승인된 private egress만 허용한다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DE08A-1137-4093-BE37-F2DF61E0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393BC-9787-49B0-8036-0EF758C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79680-EE67-4A6F-BC64-9DC572C4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docs/wiki/01-architecture.md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2286000" y="3333750"/>
            <a:ext cx="114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7572375" y="3333750"/>
            <a:ext cx="10001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410200" y="4495800"/>
            <a:ext cx="95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786E2-ACE0-4F24-9F51-F0152930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752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13AE7-48A3-4683-8869-C8594313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Internal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BDDCE-491B-4CB4-B36B-54EC0DC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DX · internal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D30E4-8235-4382-905C-D78FC6E9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414337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E32C9-345D-4DC7-BE2D-20911DFB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Existing 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4DB64-385B-4795-8DEB-B2008C3D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64CF2-C040-467A-A202-C3304DD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Next.js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:3000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542EB-F658-4E91-AE4D-9CA90A01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8B850-0FBF-4884-9390-81209844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81300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Steampipe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:9193 loopback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647CC-8CF9-4F5B-9445-01F81C2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E5710-BCB8-48FB-985F-3A818B3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LangGraph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:7000 loopback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88584-986E-41D6-9C02-7C410B7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1638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4DB1B-060D-4C43-B420-D42D26D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MCP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:7100 / stdio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38F32-3AA7-4C19-8B7B-458F10D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3086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9525">
            <a:solidFill>
              <a:srgbClr val="168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7EB45-A555-4A90-A310-67E71CDF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05D"/>
                </a:solidFill>
              </a:defRPr>
            </a:pPr>
            <a:r>
              <a:rPr sz="1800" b="1">
                <a:solidFill>
                  <a:srgbClr val="16805D"/>
                </a:solidFill>
              </a:rPr>
              <a:t>Existing VPC Endpoints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DFF8C-D8F4-4EE7-9479-E071C40D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16D82-1551-4EAA-87BC-FE618CF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STS · S3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D2B16-9F01-4745-BB22-A4CFA27E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10733-3D6B-446E-BF12-02AE08C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Bedrock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83BA1-C461-40A5-A04F-C72F2EAA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66DD6-F912-4242-BCCC-0D318060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Identity Store · SSO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0E9FA-4F6F-420B-A4CC-5308320F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F7B9C-6A3B-4D62-AEA1-C03090CC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추가 service는 승인 후 allowlist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E80EB-5335-4326-AFE9-192FEF6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006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762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A9E69-40B0-44D1-AC61-9A7E6ED5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53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2D9"/>
                </a:solidFill>
              </a:defRPr>
            </a:pPr>
            <a:r>
              <a:rPr sz="1425" b="1">
                <a:solidFill>
                  <a:srgbClr val="2762D9"/>
                </a:solidFill>
              </a:rPr>
              <a:t>SQLite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69BCEA-A4FA-46D4-91AD-BBD01B5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95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F3338"/>
                </a:solidFill>
              </a:defRPr>
            </a:pPr>
            <a:r>
              <a:rPr sz="975" b="0">
                <a:solidFill>
                  <a:srgbClr val="2F3338"/>
                </a:solidFill>
              </a:rPr>
              <a:t>data/awsops.db · 자산·감사 원장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11DE88-6FC0-4D2E-998A-FC6657E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05D"/>
                </a:solidFill>
              </a:defRPr>
            </a:pPr>
            <a:r>
              <a:rPr sz="975" b="1">
                <a:solidFill>
                  <a:srgbClr val="16805D"/>
                </a:solidFill>
              </a:rPr>
              <a:t>ALLOWED INGRESS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FE0B89-48D7-4C87-83B1-C63F37E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666D"/>
                </a:solidFill>
              </a:defRPr>
            </a:pPr>
            <a:r>
              <a:rPr sz="975" b="1">
                <a:solidFill>
                  <a:srgbClr val="61666D"/>
                </a:solidFill>
              </a:rPr>
              <a:t>APPLICATION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0F1D5-42E6-48BF-A04D-354DCFD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05D"/>
                </a:solidFill>
              </a:defRPr>
            </a:pPr>
            <a:r>
              <a:rPr sz="975" b="1">
                <a:solidFill>
                  <a:srgbClr val="16805D"/>
                </a:solidFill>
              </a:rPr>
              <a:t>APPROVED EGRESS</a:t>
            </a:r>
          </a:p>
        </p:txBody>
      </p:sp>
    </p:spTree>
    <p:extLst>
      <p:ext uri="{BB962C8B-B14F-4D97-AF65-F5344CB8AC3E}">
        <p14:creationId xmlns:p14="http://schemas.microsoft.com/office/powerpoint/2010/main" val="777707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0574F20-BB72-40F3-9534-272EAB10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Port와 목적을 고정하면 network control을 증적으로 남길 수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B9D3C-3EEE-4AA5-934D-B2F9087A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A357B-D278-40B9-B845-DCA430E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E42F6-81A1-4C5B-B1F3-02E5214A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docs/wiki/01-architecture.md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095500"/>
                <a:gridCol w="1257300"/>
                <a:gridCol w="2095500"/>
                <a:gridCol w="4324350"/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Destination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Required control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Internal browser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Next.js host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443 → 3000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Dashboard/API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승인 대역 SG·firewall, internal TLS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Next.js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Steampipe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9193/TCP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Read-only SQL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Loopback only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Next.js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LangGraph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7000/TCP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Private AI API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Loopback only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LangGraph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Bedrock Runtime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443/TLS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Model invoke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Bedrock profile + VPCE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Steampipe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Approved AWS APIs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443/TLS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Resource inventory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Profile + VPCE/private DNS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Identity audit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Identity APIs / org API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443/TLS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Assignment·org compare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Separate profile + API key env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C666B-D6D2-4220-988F-2D22A3B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DB810-A096-4AD2-A270-86C39EC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1101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local/dev의 direct :3000 접근과 prod의 internal TLS termination 방식을 보안팀·플랫폼팀이 확정해야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64785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1EB311A-1F6C-480B-BB2D-67477D09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권한과 secret은 목적별 profile과 runtime 환경으로 분리한다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9931C-674F-4A74-AAF7-D7F99C06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4590B-B954-4F66-B3E3-0004C125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8A02D-594C-4359-94D2-D6284364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docs/wiki/02-configuration.md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7D0BD-AFC7-473B-AB5E-692C5753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76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A52F6-AF50-4420-B609-B429175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62D9"/>
                </a:solidFill>
              </a:defRPr>
            </a:pPr>
            <a:r>
              <a:rPr sz="1875" b="1">
                <a:solidFill>
                  <a:srgbClr val="2762D9"/>
                </a:solidFill>
              </a:rPr>
              <a:t>awsProfile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CDB03-4ED4-4F2D-A765-F4CCDB60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일반 AWS resource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E3E23-9E25-4548-A885-96788D8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2D9"/>
          </a:solidFill>
          <a:ln xmlns:a="http://schemas.openxmlformats.org/drawingml/2006/main" w="0">
            <a:solidFill>
              <a:srgbClr val="276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1FA77-8184-4BF9-B2B1-763339C9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Steampipe account 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38CEA-952C-4743-9E20-3BEF60E8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2D9"/>
          </a:solidFill>
          <a:ln xmlns:a="http://schemas.openxmlformats.org/drawingml/2006/main" w="0">
            <a:solidFill>
              <a:srgbClr val="276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2DDD-C9B6-475D-A0BB-C2C262C4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Cloud Asset 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49160-369D-4652-BDEA-8180779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2D9"/>
          </a:solidFill>
          <a:ln xmlns:a="http://schemas.openxmlformats.org/drawingml/2006/main" w="0">
            <a:solidFill>
              <a:srgbClr val="2762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3B095-68C9-499F-84E7-B34BAD6D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Read-only IAM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7FF19-942C-49CD-9E4B-43A1CA1A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8120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9525">
            <a:solidFill>
              <a:srgbClr val="1680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FB1BF-7C47-4B9F-A367-CF651033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05D"/>
                </a:solidFill>
              </a:defRPr>
            </a:pPr>
            <a:r>
              <a:rPr sz="1875" b="1">
                <a:solidFill>
                  <a:srgbClr val="16805D"/>
                </a:solidFill>
              </a:rPr>
              <a:t>bedrockProfile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BCCD6-471B-480F-BDCF-D70CBC5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Bedrock Runtime 전용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17B5F-5E04-48C3-9230-657E129A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C335E-9CB6-4664-B6CB-F89FC65F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InvokeModel 계열만 허용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33B4C-1D35-474F-BAAD-9ADBC02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6D229-5695-47F2-9B70-E6F2259D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Inference profile/model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464D3-817B-4269-B3D5-969B708C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C9091-30D8-45B2-8BD9-92FB110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338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bedrock-runtime VPCE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FBAE1-7A59-4DD6-A385-739CDA4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87243-5186-45C9-8BFE-D18DA16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identityAudit.awsProfile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A1473-36D0-41ED-A2BD-58F99FC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IAM Identity Center 감사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977C7-0DAA-4000-854F-B9534705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E654A-040D-4F10-B73C-9160F730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Identity Store 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BC72C-6DB7-444B-ABBB-FDC1CCCF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E1DB5-2943-446C-8A51-A6820AB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SSO Admin list/describe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B4C88B-3EE6-4E82-A25F-BD6FD5E0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0A123-6FBD-4576-87B9-95643F5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338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일반 profile과 분리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0B5ADD-4FBA-42A9-9C7F-B731D28B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26D4C-BADE-4EBC-9FC4-94A4BA6B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Repository / data/config.json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FB52B-87AF-4BBB-A953-1A4097FE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1975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profile 이름과 endpoint URL만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589C0-8B78-421A-9F1A-BF8DBFF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Runtime environment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7C4C70-CB59-420E-B17E-30C7D8E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3219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KREW_API_KEY 원문 · admin token 원문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E042BE-8EA2-4131-A640-A079264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Credential 원문과 API Key는 Git·config·log에 기록하지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56160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BD4BED9-8828-4D63-AC66-F8E7EB6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수집은 read-only query로 끝나며 AWS mutation 경로가 없다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8E36-A057-4F2D-8587-F130EA1A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64994-51D0-4660-86BF-45DE2C4D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4733-B41D-4EFC-889C-F109ABB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docs/wiki/03-cloud-assets-and-s3-governance.md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904875" y="32385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625FD-6F3B-408D-B8EF-416D5C4F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C630C-893D-4177-A9B8-FC6DCCD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E5986-D782-4A87-A367-F067DC10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Account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1EF36-C7FA-437C-889E-472DAAC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config allowlist와 account search path를 적용한다.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9A391-EC3E-4E10-83F0-FA0871B1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190F3-3346-45F6-8A5E-D26619AA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7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097E5-4C4E-4E71-995F-CFE77583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Steampipe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3DEEE-E7E2-48C2-900D-B8A0DEED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EC2·S3 등 승인된 table만 조회한다.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181FA-8964-48E6-A915-417DE40A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6BAF4-6419-4CB3-AC4B-F51EB528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67CCF-4875-4960-916B-1323545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정규화·검증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17ED1-CAB3-494E-8412-7065D5F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빈 결과는 caller identity probe 후 missing 처리한다.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59669-5149-4B56-BF33-D1BFBF6E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D2AC3-8A8D-4113-97A2-51847771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7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3B26C-1247-47B6-8231-BC49368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385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SQLite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4EDBC-791A-4A0F-9E50-83A333B8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95750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현재 상태와 변경·삭제 이력을 보존한다.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8D1D7-F02B-4464-9DA9-CC1BAC66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0">
            <a:solidFill>
              <a:srgbClr val="E7F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AA694-49F7-4949-BF82-8BE39E1A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05D"/>
                </a:solidFill>
              </a:defRPr>
            </a:pPr>
            <a:r>
              <a:rPr sz="1350" b="1">
                <a:solidFill>
                  <a:srgbClr val="16805D"/>
                </a:solidFill>
              </a:rPr>
              <a:t>금지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3BA87-AAC8-495A-85BD-E40D2344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721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Create / Update / Delete API · CDK · CloudFormation · Terraform · VPC Endpoint 생성</a:t>
            </a:r>
          </a:p>
        </p:txBody>
      </p:sp>
    </p:spTree>
    <p:extLst>
      <p:ext uri="{BB962C8B-B14F-4D97-AF65-F5344CB8AC3E}">
        <p14:creationId xmlns:p14="http://schemas.microsoft.com/office/powerpoint/2010/main" val="1666891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4C79C24-07F5-4B2D-9C5D-D48F956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SQLite는 운영 원장이므로 일반 cache보다 강한 보호가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84A3F-7AE5-4B52-89DD-ADC2EB7E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C75D7-ABDA-4066-AF92-7E6544D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C1541-B7A2-48DE-AECE-35D999C7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docs/wiki/03-cloud-assets-and-s3-governance.md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113919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714750"/>
                <a:gridCol w="2095500"/>
                <a:gridCol w="3486150"/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Data group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Retention behavior</a:t>
                      </a:r>
                    </a:p>
                  </a:txBody>
                  <a:tcPr marL="95250" marR="95250" marT="76200" marB="76200">
                    <a:solidFill>
                      <a:srgbClr val="11111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Cloud Asset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resource ID, owner, module, phase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Internal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변경·삭제 이력 유지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S3 Governance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purpose, 개인정보 여부, 유효기간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Internal / audit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Bucket 삭제 후에도 유지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Identity Audit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DisplayName, orgCode, assignments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Personal / access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실행·finding 이력 유지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Runtime logs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query error, model usage, health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Operational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F3338"/>
                          </a:solidFill>
                        </a:rPr>
                        <a:t>정책 결정 필요</a:t>
                      </a:r>
                    </a:p>
                  </a:txBody>
                  <a:tcPr marL="95250" marR="95250" marT="66675" marB="66675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29FF-0628-405F-A73A-FBDCF186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581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C48C6-F8DD-450B-9F6F-1A650886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File permission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A7713-8F62-4F3C-850A-1FA241D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서비스 account만 DB·config·credential을 읽고 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4A53E-8302-424F-BE17-2B5B5A5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5581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D3877-1BFE-4E58-BFB9-E55FD53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Backup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68B3A-CDF0-4838-B225-ABB69602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3870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DB와 config의 주기·보관 기간·복구 절차를 정한다.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94FEB-E2C2-45AF-BBBD-4E8BB7A8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581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B1842-396C-44D1-B2F0-2B8E8A2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Encryption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AF100-9EC3-43B2-97DC-79CD57F1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435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VM volume 암호화와 backup 암호화를 적용한다.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1D58E-3B50-4C6B-9D04-4A5BE47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5581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EDAF8-B947-4F48-A474-3855EEB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Retention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8A18A-54DE-4B99-94E3-6FD7FE15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435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Identity·S3 감사 이력과 log 보존기간을 승인받는다.</a:t>
            </a:r>
          </a:p>
        </p:txBody>
      </p:sp>
    </p:spTree>
    <p:extLst>
      <p:ext uri="{BB962C8B-B14F-4D97-AF65-F5344CB8AC3E}">
        <p14:creationId xmlns:p14="http://schemas.microsoft.com/office/powerpoint/2010/main" val="304816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2A8BE4C-0464-4CEB-B77A-2580062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AI는 승인된 자료를 요약하지만 AWS를 변경하지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3794-F0D4-42B0-BAD1-AE7F8D9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08441-001B-4C3E-8894-42FFB02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7B918-C7F6-4B38-B9C2-2F46175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docs/wiki/01-architecture.md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190750" y="3162300"/>
            <a:ext cx="10001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5334000" y="2619375"/>
            <a:ext cx="114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334000" y="3857625"/>
            <a:ext cx="114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8572500" y="3162300"/>
            <a:ext cx="952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321F4-0A3F-4D9E-853F-F9B763B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638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CEC6F-8D55-4845-A138-747A0493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User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DB27A-53C9-4EB4-A86A-79C845D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1666D"/>
                </a:solidFill>
              </a:defRPr>
            </a:pPr>
            <a:r>
              <a:rPr sz="1050" b="0">
                <a:solidFill>
                  <a:srgbClr val="61666D"/>
                </a:solidFill>
              </a:rPr>
              <a:t>S3 현황 / 관리대장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FF6B0-C3A6-4861-9840-81FED5A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2143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56365-2E6C-4C80-A6CA-7390D47F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Intent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D06DF-B4C5-4D97-80C9-C5079DE5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live inventory</a:t>
            </a:r>
          </a:p>
          <a:p xmlns:a="http://schemas.openxmlformats.org/drawingml/2006/main">
            <a:pPr algn="ctr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또는</a:t>
            </a:r>
          </a:p>
          <a:p xmlns:a="http://schemas.openxmlformats.org/drawingml/2006/main">
            <a:pPr algn="ctr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saved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40AC6-14FF-4AA7-A574-8E30E41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9525">
            <a:solidFill>
              <a:srgbClr val="1680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2B974-79ED-4D7E-B7A3-CA839852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05D"/>
                </a:solidFill>
              </a:defRPr>
            </a:pPr>
            <a:r>
              <a:rPr sz="1725" b="1">
                <a:solidFill>
                  <a:srgbClr val="16805D"/>
                </a:solidFill>
              </a:rPr>
              <a:t>Steampipe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7B542-0449-4953-8F5F-D73E83B9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live read-only AWS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59308-5A2D-48D6-A0F8-E3EB1C74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76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1A18C-481C-4272-B323-8B65BD0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62D9"/>
                </a:solidFill>
              </a:defRPr>
            </a:pPr>
            <a:r>
              <a:rPr sz="1725" b="1">
                <a:solidFill>
                  <a:srgbClr val="2762D9"/>
                </a:solidFill>
              </a:rPr>
              <a:t>SQLite ledger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08A93-EC9D-4DAC-B36B-45DAF54C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asset·governance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CC954-1AD6-4663-8DA4-B057E089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2133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AF949-A327-4894-BC58-80C4E6D5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Bedrock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DCDA1-765F-42CC-843C-8D6EDA8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194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7D7D7"/>
                </a:solidFill>
              </a:defRPr>
            </a:pPr>
            <a:r>
              <a:rPr sz="1200" b="0">
                <a:solidFill>
                  <a:srgbClr val="D7D7D7"/>
                </a:solidFill>
              </a:rPr>
              <a:t>지정 profile + VPCE</a:t>
            </a:r>
          </a:p>
          <a:p xmlns:a="http://schemas.openxmlformats.org/drawingml/2006/main">
            <a:pPr algn="ctr">
              <a:defRPr sz="1200" b="0">
                <a:solidFill>
                  <a:srgbClr val="D7D7D7"/>
                </a:solidFill>
              </a:defRPr>
            </a:pPr>
            <a:r>
              <a:rPr sz="1200" b="0">
                <a:solidFill>
                  <a:srgbClr val="D7D7D7"/>
                </a:solidFill>
              </a:rPr>
              <a:t>근거 데이터 기반 응답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27E71-955C-44E2-B7D2-A9AD82CD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106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4DFA4-C227-46AE-BB04-9B454401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보호 장치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74BDD-DF8B-4C01-B698-A3BA5C60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483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3338"/>
                </a:solidFill>
              </a:defRPr>
            </a:pPr>
            <a:r>
              <a:rPr sz="1350" b="1">
                <a:solidFill>
                  <a:srgbClr val="2F3338"/>
                </a:solidFill>
              </a:rPr>
              <a:t>AgentCore 미사용 · write action 미수행 · request 512 KB / 50 messages 제한 · account scope 적용</a:t>
            </a:r>
          </a:p>
        </p:txBody>
      </p:sp>
    </p:spTree>
    <p:extLst>
      <p:ext uri="{BB962C8B-B14F-4D97-AF65-F5344CB8AC3E}">
        <p14:creationId xmlns:p14="http://schemas.microsoft.com/office/powerpoint/2010/main" val="1529999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28AABE4-1061-445B-88DE-40EE66FB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인증 부재는 내부망 통제로 보완해야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E8F80-E8F6-4EFD-A284-5B51C0CE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2ADEA-3829-4911-9CA7-EEA0B6E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D77B5-B395-4980-AD13-2060141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docs/wiki/00-overview.md · security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B69EA-5F12-4224-973B-F0AAB928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718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F339C-F5D4-4AE3-AEA6-73A6750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4672C-D675-44A5-A7DF-515FB38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</a:defRPr>
            </a:pPr>
            <a:r>
              <a:rPr sz="1875" b="1">
                <a:solidFill>
                  <a:srgbClr val="B42318"/>
                </a:solidFill>
              </a:rPr>
              <a:t>현재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F5AB6-C030-4EF0-9270-48597EDD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0289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Cognito와 application login이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Custom field 정의 변경만 admin token으로 보호한다.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01B12-CBDA-4D98-BB42-35CC6D67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718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9525">
            <a:solidFill>
              <a:srgbClr val="1680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65F6A-9147-44A9-A140-0E28D86C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47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5D"/>
          </a:solidFill>
          <a:ln xmlns:a="http://schemas.openxmlformats.org/drawingml/2006/main" w="0">
            <a:solidFill>
              <a:srgbClr val="1680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0F5AD-B911-4CFF-8BD8-BB5CA508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241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05D"/>
                </a:solidFill>
              </a:defRPr>
            </a:pPr>
            <a:r>
              <a:rPr sz="1875" b="1">
                <a:solidFill>
                  <a:srgbClr val="16805D"/>
                </a:solidFill>
              </a:rPr>
              <a:t>필수 보완 통제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15D41-1A36-480E-AE4F-4A4BBA12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52800"/>
            <a:ext cx="30289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DX·내부망 전용 ingress</a:t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승인 대역 SG·firewall</a:t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internal TLS reverse proxy</a:t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9193·7000·7100 loopback</a:t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OS file permission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148F1-D400-4E24-AE46-282FED08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718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E2D3F-264E-49C1-B8D2-92A7B7E1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2AC49-BF8D-4D98-A4FC-5C784BCE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잔여 위험과 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A0D2A-F598-41E4-A026-D1CB2E8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30289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사용자별 식별·추적 부족</a:t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내부 사용자 오남용 가능성</a:t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admin token 공유 위험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F3338"/>
                </a:solidFill>
              </a:defRPr>
            </a:pPr>
            <a:r>
              <a:rPr sz="1350" b="0">
                <a:solidFill>
                  <a:srgbClr val="2F3338"/>
                </a:solidFill>
              </a:rPr>
              <a:t>향후 사내 SSO/reverse proxy 연동 검토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98346-CEDA-43EE-B8B8-3C98FEE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Phase 1 승인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0E180-FFB8-4590-A38E-633188D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72150"/>
            <a:ext cx="950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Application authentication을 대체하는 network·host control의 담당 조직과 증적 방식을 명시한다.</a:t>
            </a:r>
          </a:p>
        </p:txBody>
      </p:sp>
    </p:spTree>
    <p:extLst>
      <p:ext uri="{BB962C8B-B14F-4D97-AF65-F5344CB8AC3E}">
        <p14:creationId xmlns:p14="http://schemas.microsoft.com/office/powerpoint/2010/main" val="1933083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364C17C4-6443-4682-907E-8C7D556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Identity 감사는 부서 이동 후 남은 AWS 권한을 탐지한다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D51EA-9867-4067-AE60-9BFAA46C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5CB5A-177F-462F-A0C7-60430422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3F7A1-7601-48B1-8A4E-AD8DF446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docs/wiki/04-identity-center-org-audit.md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066800" y="310515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ADCB1-CD31-457D-96B8-8B9BC1E2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39E56-AC91-45E5-AA52-85FA902A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34917-4024-47DF-B491-4CF34EF5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Identity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E8D65-9C06-43AF-BA45-687770E3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338"/>
                </a:solidFill>
              </a:defRPr>
            </a:pPr>
            <a:r>
              <a:rPr sz="1200" b="0">
                <a:solidFill>
                  <a:srgbClr val="2F3338"/>
                </a:solidFill>
              </a:rPr>
              <a:t>users·groups·Permission Sets·assignments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F301B-ADC8-4E3D-B721-692E24C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350C2-87EB-4443-AA58-4F1FE8CB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08ED7-BF06-4C92-AA3C-9B501FB3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242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Organization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57A35-5758-48A3-A324-2E8748D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338"/>
                </a:solidFill>
              </a:defRPr>
            </a:pPr>
            <a:r>
              <a:rPr sz="1200" b="0">
                <a:solidFill>
                  <a:srgbClr val="2F3338"/>
                </a:solidFill>
              </a:rPr>
              <a:t>DisplayName으로 orgCode·orgName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F6E7E-CD5E-4471-8713-CE4E433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29F74-7832-49C1-819F-1EDCBD9B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310E7-C744-40C7-97F9-94B2F0D3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Change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48797-4C43-4D6C-B3F6-0AF3732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338"/>
                </a:solidFill>
              </a:defRPr>
            </a:pPr>
            <a:r>
              <a:rPr sz="1200" b="0">
                <a:solidFill>
                  <a:srgbClr val="2F3338"/>
                </a:solidFill>
              </a:rPr>
              <a:t>이전 orgCode와 현재 orgCode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1C7A8-1C8B-4E43-AD74-829B97B4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E23C6-B2AB-405F-9896-ED1905BE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55F2D-203C-42E6-9681-04DF42AE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7748F-2DBE-4416-B49A-CAE715A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338"/>
                </a:solidFill>
              </a:defRPr>
            </a:pPr>
            <a:r>
              <a:rPr sz="1200" b="0">
                <a:solidFill>
                  <a:srgbClr val="2F3338"/>
                </a:solidFill>
              </a:rPr>
              <a:t>조직 변경 + assignment 잔존 시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AF10F-2026-4ACA-951A-CC61A1D0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47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0">
            <a:solidFill>
              <a:srgbClr val="E7F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0EB8D-661E-46C0-B18E-E137A7CD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05D"/>
                </a:solidFill>
              </a:defRPr>
            </a:pPr>
            <a:r>
              <a:rPr sz="1275" b="1">
                <a:solidFill>
                  <a:srgbClr val="16805D"/>
                </a:solidFill>
              </a:rPr>
              <a:t>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683C3-4A59-485C-AC58-1FF86EB6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수동 또는 매주 화요일 10:00 KST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77943-ABCD-4105-8EB4-0CE8EEC6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별도 read-only profile · API Key는 environment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609817-A478-4F74-994F-10FBF14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567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F4B81-5ABF-4B52-8AC5-46BC368B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48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보안 결정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6B2C7-EB1C-4823-93BD-7BEE3149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개인정보 분류 · finding 보존기간 · 알림 채널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374D74-59BE-465E-9DAF-FE5E9197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531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현재 화면·CSV·DB 확인 기준, 외부 알림은 미확정</a:t>
            </a:r>
          </a:p>
        </p:txBody>
      </p:sp>
    </p:spTree>
    <p:extLst>
      <p:ext uri="{BB962C8B-B14F-4D97-AF65-F5344CB8AC3E}">
        <p14:creationId xmlns:p14="http://schemas.microsoft.com/office/powerpoint/2010/main" val="70142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5C0C327-1554-4459-B829-387A8C45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배포와 운영은 기존 VM 안에서 재현 가능해야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3E71D-51D4-4BD9-9CD2-5A547944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F5694-BEA4-4038-AEFF-066F241F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43429-86C3-4C45-B1F7-380DD4E4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docs/wiki/05-operations-runbook.md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527EF-E1F2-4AF5-A3B9-70154888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628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5BEEA-5873-4125-B1E5-3BDBC4DA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30479-66B1-4F81-9D4F-63FC798E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1A29E-4BD2-4A18-8DAE-7FFAEBC1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Source + lockfile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VM OS에서 npm ci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Python requirements 설치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npm run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69A81-823D-45A1-994C-9CD3182C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2628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201B-2050-42DC-A92C-8D1C53F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02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93D11-6373-49ED-82F2-C64DC295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250DC-A792-4858-8FF7-5AA90BC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05175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Private runtimes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Steampipe private start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LangGraph start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Next.js 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06BFE-0B69-4B61-8650-8DF351A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628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2E038-38E1-4558-A5D4-BECFE4CD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A3004-85D4-4AF4-B23F-2BE5F24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2B502-8FA7-40A2-AF33-3933DD7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5175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Health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VPCE API test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Steampipe query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:7000 health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/awsops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2892B-D30C-41FD-9D15-54D16F94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628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EB7BF-CF12-4FAA-9993-2DA6BDE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02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B3EA3-F805-4626-9ACE-CEC0C03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22695-4E81-4858-9936-B64C156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Backup and logs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data/awsops.db backup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config permission</a:t>
            </a:r>
          </a:p>
          <a:p xmlns:a="http://schemas.openxmlformats.org/drawingml/2006/main">
            <a:pPr algn="l">
              <a:defRPr sz="1275" b="0">
                <a:solidFill>
                  <a:srgbClr val="2F3338"/>
                </a:solidFill>
              </a:defRPr>
            </a:pPr>
            <a:r>
              <a:rPr sz="1275" b="0">
                <a:solidFill>
                  <a:srgbClr val="2F3338"/>
                </a:solidFill>
              </a:rPr>
              <a:t>process log retention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0C3B7-4CAA-4B2E-A421-55C3E5B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F"/>
          </a:solidFill>
          <a:ln xmlns:a="http://schemas.openxmlformats.org/drawingml/2006/main" w="0">
            <a:solidFill>
              <a:srgbClr val="E7F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E2BF0-EA9F-4381-ADB7-34AA658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05D"/>
                </a:solidFill>
              </a:defRPr>
            </a:pPr>
            <a:r>
              <a:rPr sz="1200" b="1">
                <a:solidFill>
                  <a:srgbClr val="16805D"/>
                </a:solidFill>
              </a:rPr>
              <a:t>Repository 이동성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C301E-68C7-472F-A3C3-C32F2A2A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927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GitHub Actions에 의존하지 않으며 사내 Git과 승인된 VM build 절차로 운영할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5695156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340DCBC4-C31B-47D4-863B-EB8CBA5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20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보안 승인 전에 여섯 가지 운영 기준을 확정해야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3A574-1EA9-464B-B310-BEB59C3C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666D"/>
                </a:solidFill>
              </a:defRPr>
            </a:pPr>
            <a:r>
              <a:rPr sz="1125" b="0">
                <a:solidFill>
                  <a:srgbClr val="61666D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B4105-55F3-4764-8669-175B7083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545A9-F7F2-442D-8349-BCDAE9C9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666D"/>
                </a:solidFill>
              </a:defRPr>
            </a:pPr>
            <a:r>
              <a:rPr sz="825" b="0">
                <a:solidFill>
                  <a:srgbClr val="61666D"/>
                </a:solidFill>
              </a:rPr>
              <a:t>INTERNAL · SECURITY REVIEW  |  Security review decision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E63A-6E5F-4F7D-A4B3-6C10BB2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E018A-5AFC-4189-9661-B9825E9D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99C24-E159-43C9-A419-B63829CD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Ingress·TLS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ADCE8-884A-45F0-AC3D-65C1D541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승인 대역, internal DNS, TLS termination, :3000 노출 방식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FB11F-8012-4F1F-9750-F6ACB886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38C1B-67A8-4D65-9578-100B097B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43323-2409-4D34-B38A-9500F8E6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Authentication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48BCF-CEB4-4B08-A90E-BF6263A2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Phase 1 무인증 승인 범위와 사내 SSO 적용 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DDF79-235C-4FAB-8DBA-8A90D8F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834A7-BC69-4EB6-9B77-495F73C0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C332B-45EB-4391-8468-56C8C7D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IAM·Endpoint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EFA5B-0763-4FC5-9B83-9CB22E5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Profile별 read-only policy와 service endpoint allowlist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E6F71-6EB8-4156-B46D-C33F7657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70022-5E99-457A-AA31-86C12D18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5024C-A6A7-4652-A68E-50E16BA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Data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A0A4A-FCCF-4154-BA7F-0AD9FEF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SQLite·backup 암호화, permission, 보존기간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A370E-45DF-419E-87CA-C9802BC1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719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715E6-8BF3-4938-B32A-C791E4C4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ADD49-6633-4A59-8820-E1525997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Audit·Secret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FA52C-A3CA-4B40-858B-C0A7F0A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사용자 추적, log 보존, API Key·token rotation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F99DC-F750-4C1A-9B72-ED9DC2DC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solidFill>
              <a:srgbClr val="FFF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A97AA-B7B2-49F5-84D2-9B5C9DD1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1ADE5-C5BA-4ADC-BD16-4D11DDA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Supply chain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63527-DCB0-4CBD-B5B7-32052B1C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338"/>
                </a:solidFill>
              </a:defRPr>
            </a:pPr>
            <a:r>
              <a:rPr sz="1125" b="0">
                <a:solidFill>
                  <a:srgbClr val="2F3338"/>
                </a:solidFill>
              </a:rPr>
              <a:t>npm/Python dependency 및 Steampipe plugin 반입·검증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48F3D-67E2-4FA8-88BE-0B5D77AB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3519A5-705C-441B-9FDC-E9711D6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승인 요청 범위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B59DE-1949-4808-87D7-E96AA7C9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24550"/>
            <a:ext cx="979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기존 VM에 read-only AWSops runtime을 배치하고, 위 통제를 운영 표준으로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337429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2026-07-26T14:51:41.8240000Z</dcterms:created>
  <dcterms:modified xsi:type="dcterms:W3CDTF">2026-07-26T14:51:41.8240000Z</dcterms:modified>
</coreProperties>
</file>